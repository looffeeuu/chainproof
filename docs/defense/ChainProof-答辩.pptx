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【主讲】杨宇　【建议时长】0:10
大家好，我们是 ChainProof 组，作品是一个基于 Hyperledger Fabric 的团队贡献存证平台。组长全书阅做后端和集成，黄铭谦做区块链和智能合约，我是杨宇，做前端和产品。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【主讲】杨宇　【建议时长】0:30
做过小组作业的都知道，最难说清的是谁做了什么。比例常常在结束时凭回忆定，贡献表一方事后就能改，老师拿到一份说明也没法自己核实。现有的工具各缺一块：Git 只管代码，共享表格管理员一个人能改，纸面签字和文件对不上。所以我们把成果文件、贡献比例和其他成员的确认一起存到联盟链上，再生成任何人都能核验的贡献证明。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【主讲】杨宇　【建议时长】0:25
凡是事后要说明贡献的合作都能用：课程作业、竞赛、科研合作，还有求职时附在简历上。用户分三类：负责人建项目、登记成员；成员提交成果，互相核验确认；外部的老师、评委、用人单位不用注册，凭证书编号就能核验（这一点决定了证明能拿出去用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【主讲】杨宇　【建议时长】0:25
用起来是五步：负责人建项目；成员上传成果文件，声明贡献比例；其他成员下载原文件，在浏览器里核对哈希，再确认或拒绝；全员确认后记录变成已验证，计入统计；最后签发证明，公开验证。第三步是和普通存证系统最大的不同，下面请黄铭谦讲它是怎么做到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【主讲】黄铭谦　【建议时长】0:25
这是系统架构：前端 Vue 3，后端 Node.js 加 Express，区块链用 Hyperledger Fabric 2.5。关键设计是链上链下分离：链上只存需要防篡改的数据——项目、成员、文件哈希、贡献比例、确认结果和证书；原始成果文件留在链下。这样既避免账本膨胀，也不会把成果内容暴露给所有背书节点。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【主讲】黄铭谦　【建议时长】0:22
第一个核心机制是前后端双算 SHA-256。浏览器先在本地算一次，上传后后端对原始字节再独立算一次，两次一致才写链，不一致直接拒绝。确认人下载原文件，拖进确认页的核对框，在浏览器里重算比对，文件不用再上传，改一个字节就对不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【主讲】黄铭谦　【建议时长】0:26
第二个核心机制是独立确认。创建里程碑时，链码把除提交者外的全部成员锁定为确认人；提交者不能确认自己的里程碑，这条规则写在链码里，绕过网页也跳不过去。全员确认才是 VERIFIED，任何一人拒绝就作废。右边是贡献统计：全程整数运算加最大余数法，所有背书节点结果一致，总和严格 100%。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【主讲】黄铭谦　【建议时长】0:23
基于这些机制，我们有五个创新点：第一，他人确认才算数，链码强制执行；第二，确认人下载原文件本地核验，确认的是这一份文件；第三，统计全程整数运算，所有节点结果一致；第四，证明无需登录即可公开验证；第五，链上只存证据不存内容，兼顾可信与隐私。讲完交给全书阅进入演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【主讲】全书阅　【建议时长】0:10
对应评分「美观性」，一句带过即可，马上切到浏览器现场演示。截图来自 Mock 模式，现场与视频均为真实 Fabric 环境。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【主讲】全书阅　【建议时长】2:45（现场演示）
切到浏览器，按 docs/DEMO_SCRIPT.md 第 2 节执行。现场故障时改放讲解视频第 3 部分。演示结束切回第 11 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【主讲】全书阅　【建议时长】0:15
对应评分「完整性」：用数字说明不是只做了界面。分工一句带过。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【主讲】全书阅　【建议时长】0:25
左边讲收获，右边主动讲局限：「后端能否冒充成员」是最可能被问到的问题，先在这里给出答案和改进方案。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【主讲】全书阅　【建议时长】0:05
进入 3 分钟提问，常见问题见 Issue #36。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【备用页】不在 7 分钟讲述内，提问时调出。
适用问题：链上存了哪些数据、怎么查询、链码有哪些函数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【备用页】不在 7 分钟讲述内，提问时调出。
适用问题：接口怎么设计、出错时怎么处理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【备用页】不在 7 分钟讲述内，提问时调出。
适用问题：开发过程、分工如何协作、遇到过什么问题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【备用页】不在 7 分钟讲述内，提问时调出。
适用问题：怎么测试的、怎么部署运行、能否复现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438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1887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CA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课程综合实践Ⅱ · 区块链技术应用实践大作业　|　ChainProof 组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164592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22960" y="27432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Hyperledger Fabric 的团队成果与贡献可信存证平台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822960" y="3703320"/>
            <a:ext cx="2011680" cy="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393192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全书阅（组长）</a:t>
            </a:r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C7CA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后端 / 集成
</a:t>
            </a:r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杨宇</a:t>
            </a:r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C7CA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前端 / 产品
</a:t>
            </a:r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黄铭谦</a:t>
            </a:r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C7CA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区块链 / 智能合约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53949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0E2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Vue 3　·　Node.js / Express　·　Hyperledger Fabric 2.5　·　JavaScript 链码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58521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CA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 11 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 · 研发意义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团队项目里，最难说清的是「谁做了什么」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2 / 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1554480"/>
            <a:ext cx="256032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64592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205740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谁做了什么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960120" y="251460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贡献比例常在结束时凭回忆协商，缺少过程证据。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520440" y="1554480"/>
            <a:ext cx="256032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49040" y="164592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749040" y="205740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什么时候完成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3749040" y="251460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文件反复修改，很难证明某版本何时已存在。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309360" y="1554480"/>
            <a:ext cx="256032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37960" y="164592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537960" y="205740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会不会被改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6537960" y="251460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贡献表、聊天记录都可能被一方事后修改。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098280" y="1554480"/>
            <a:ext cx="256032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26880" y="164592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326880" y="205740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外人怎么信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9326880" y="251460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老师、评委拿到说明，也无法独立核实。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31520" y="3703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现有工具都只解决了一部分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31520" y="4114800"/>
            <a:ext cx="34747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4187952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91C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 提交记录
</a:t>
            </a:r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只覆盖代码，历史可改写，不表达他人是否认可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434840" y="4114800"/>
            <a:ext cx="34747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17720" y="4187952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91C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共享文档 / 表格
</a:t>
            </a:r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管理员单方可改，不与成果文件绑定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138160" y="4114800"/>
            <a:ext cx="34747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21040" y="4187952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91C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纸面签字
</a:t>
            </a:r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无法与具体文件绑定，外人难以核验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31520" y="5212080"/>
            <a:ext cx="10927080" cy="960120"/>
          </a:xfrm>
          <a:prstGeom prst="roundRect">
            <a:avLst>
              <a:gd name="adj" fmla="val 7619"/>
            </a:avLst>
          </a:prstGeom>
          <a:solidFill>
            <a:srgbClr val="E6E8FB"/>
          </a:solidFill>
          <a:ln w="12700">
            <a:solidFill>
              <a:srgbClr val="E6E8F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05840" y="5212080"/>
            <a:ext cx="104241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我们的目标：</a:t>
            </a:r>
            <a:pPr indent="0" marL="0">
              <a:buNone/>
            </a:pPr>
            <a:r>
              <a:rPr lang="en-US" sz="17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把「成果文件 + 贡献比例 + 其他成员的确认」整体存证到联盟链，并生成任何人都能公开核验的贡献证明。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 · 研发意义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应用场景与用户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3 / 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1554480"/>
            <a:ext cx="256032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6916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课程小组作业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2194560"/>
            <a:ext cx="21488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每个阶段提交一次里程碑，结课按链上确认结果给出贡献比例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0120" y="35204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80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组内打分有依据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520440" y="1554480"/>
            <a:ext cx="256032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49040" y="16916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竞赛 / 创新项目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749040" y="2194560"/>
            <a:ext cx="21488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记录方案、代码、报告和分工，评奖时出示贡献证明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749040" y="35204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80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评委快速核实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309360" y="1554480"/>
            <a:ext cx="256032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37960" y="16916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科研课题合作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537960" y="2194560"/>
            <a:ext cx="21488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数据集、实验结果、论文草稿按版本存证，提前确认贡献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37960" y="35204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80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减少署名争议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098280" y="1554480"/>
            <a:ext cx="256032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26880" y="16916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实习 / 求职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326880" y="2194560"/>
            <a:ext cx="21488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把贡献证明附在简历里，对方点开即可核验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326880" y="35204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80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用人单位可独立核验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1520" y="4251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三类用户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31520" y="4663440"/>
            <a:ext cx="3474720" cy="1417320"/>
          </a:xfrm>
          <a:prstGeom prst="roundRect">
            <a:avLst>
              <a:gd name="adj" fmla="val 5161"/>
            </a:avLst>
          </a:prstGeom>
          <a:solidFill>
            <a:srgbClr val="E6E8FB"/>
          </a:solidFill>
          <a:ln w="12700">
            <a:solidFill>
              <a:srgbClr val="E6E8F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4800600"/>
            <a:ext cx="31546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项目负责人
</a:t>
            </a:r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创建项目、登记成员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434840" y="4663440"/>
            <a:ext cx="3474720" cy="1417320"/>
          </a:xfrm>
          <a:prstGeom prst="roundRect">
            <a:avLst>
              <a:gd name="adj" fmla="val 5161"/>
            </a:avLst>
          </a:prstGeom>
          <a:solidFill>
            <a:srgbClr val="E6E8FB"/>
          </a:solidFill>
          <a:ln w="12700">
            <a:solidFill>
              <a:srgbClr val="E6E8F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17720" y="4800600"/>
            <a:ext cx="31546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团队成员
</a:t>
            </a:r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提交成果与比例；核验原文件后确认或拒绝；签发自己的证明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138160" y="4663440"/>
            <a:ext cx="3474720" cy="1417320"/>
          </a:xfrm>
          <a:prstGeom prst="roundRect">
            <a:avLst>
              <a:gd name="adj" fmla="val 5161"/>
            </a:avLst>
          </a:prstGeom>
          <a:solidFill>
            <a:srgbClr val="E6E8FB"/>
          </a:solidFill>
          <a:ln w="12700">
            <a:solidFill>
              <a:srgbClr val="E6E8F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21040" y="4800600"/>
            <a:ext cx="31546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外部验证者
</a:t>
            </a:r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老师、评委、用人单位：无需登录，凭编号核验证明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 · 研发意义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产品方案：一个项目的使用过程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4 / 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051560" y="169164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69164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负责人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240280"/>
            <a:ext cx="2011680" cy="21945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2860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2514600"/>
            <a:ext cx="1828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创建项目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登记成员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005840" y="3840480"/>
            <a:ext cx="14630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858768"/>
            <a:ext cx="1920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CreateProject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761488" y="3337560"/>
            <a:ext cx="192024" cy="0"/>
          </a:xfrm>
          <a:prstGeom prst="line">
            <a:avLst/>
          </a:prstGeom>
          <a:noFill/>
          <a:ln w="19050">
            <a:solidFill>
              <a:srgbClr val="3438C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291840" y="169164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91840" y="169164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成员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971800" y="2240280"/>
            <a:ext cx="2011680" cy="21945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108960" y="22860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063240" y="2514600"/>
            <a:ext cx="1828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提交里程碑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上传成果文件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声明贡献比例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3246120" y="3840480"/>
            <a:ext cx="14630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0" y="3858768"/>
            <a:ext cx="1920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CreateMilestone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01768" y="3337560"/>
            <a:ext cx="192024" cy="0"/>
          </a:xfrm>
          <a:prstGeom prst="line">
            <a:avLst/>
          </a:prstGeom>
          <a:noFill/>
          <a:ln w="19050">
            <a:solidFill>
              <a:srgbClr val="3438C8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532120" y="169164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32120" y="169164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其他成员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212080" y="2240280"/>
            <a:ext cx="2011680" cy="2194560"/>
          </a:xfrm>
          <a:prstGeom prst="roundRect">
            <a:avLst>
              <a:gd name="adj" fmla="val 3636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349240" y="22860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303520" y="2514600"/>
            <a:ext cx="1828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下载原文件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本地核对哈希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确认或拒绝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486400" y="3840480"/>
            <a:ext cx="14630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257800" y="3858768"/>
            <a:ext cx="1920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ConfirmContribution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42048" y="3337560"/>
            <a:ext cx="192024" cy="0"/>
          </a:xfrm>
          <a:prstGeom prst="line">
            <a:avLst/>
          </a:prstGeom>
          <a:noFill/>
          <a:ln w="19050">
            <a:solidFill>
              <a:srgbClr val="3438C8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7772400" y="169164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0" y="169164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452360" y="2240280"/>
            <a:ext cx="2011680" cy="21945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589520" y="22860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543800" y="2514600"/>
            <a:ext cx="1828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全员确认后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变为「已验证」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计入统计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7726680" y="3840480"/>
            <a:ext cx="14630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498080" y="3858768"/>
            <a:ext cx="1920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GetProject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Contributions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9482328" y="3337560"/>
            <a:ext cx="192024" cy="0"/>
          </a:xfrm>
          <a:prstGeom prst="line">
            <a:avLst/>
          </a:prstGeom>
          <a:noFill/>
          <a:ln w="19050">
            <a:solidFill>
              <a:srgbClr val="3438C8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10012680" y="169164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012680" y="169164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成员 → 外部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692640" y="2240280"/>
            <a:ext cx="2011680" cy="21945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829800" y="22860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9784080" y="2514600"/>
            <a:ext cx="1828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签发贡献证明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凭编号公开验证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9966960" y="3840480"/>
            <a:ext cx="14630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738360" y="3858768"/>
            <a:ext cx="1920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IssueCertificate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VerifyCertificate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31520" y="4754880"/>
            <a:ext cx="1092708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05840" y="4892040"/>
            <a:ext cx="104241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浏览器即可使用，无需安装；九个页面覆盖概览、项目、提交、确认、证书与公开验证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提交、确认、签发都是 Fabric 交易，里程碑和证书上能看到对应的 txId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 · 技术与架构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系统架构与链上 / 链下边界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5 / 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1554480"/>
            <a:ext cx="64008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554480"/>
            <a:ext cx="6126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 · Vue 3 + Vite
</a:t>
            </a:r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个页面 · 浏览器本地 SHA-256 · 演示身份切换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931920" y="2423160"/>
            <a:ext cx="0" cy="32004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4069080" y="24231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REST / JSON + multipart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2743200"/>
            <a:ext cx="64008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743200"/>
            <a:ext cx="6126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 · Node.js 22 + Express 5
</a:t>
            </a:r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参数校验 · 服务端 SHA-256 复算 · 成员鉴权 · 链下文件托管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931920" y="3611880"/>
            <a:ext cx="0" cy="32004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4069080" y="3611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Fabric Gateway SDK（gRPC + TLS）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3931920"/>
            <a:ext cx="64008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931920"/>
            <a:ext cx="6126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区块链 · Hyperledger Fabric 2.5.16
</a:t>
            </a:r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Org1 + Org2 + Orderer · 通道 chainproof · LevelDB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3931920" y="4800600"/>
            <a:ext cx="0" cy="32004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31520" y="5120640"/>
            <a:ext cx="6400800" cy="868680"/>
          </a:xfrm>
          <a:prstGeom prst="roundRect">
            <a:avLst>
              <a:gd name="adj" fmla="val 8421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5120640"/>
            <a:ext cx="6126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智能合约 · ChainProofContract（JavaScript）
</a:t>
            </a:r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个事务函数：项目 · 里程碑 · 确认 · 统计 · 证书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7498080" y="1554480"/>
            <a:ext cx="4160520" cy="2331720"/>
          </a:xfrm>
          <a:prstGeom prst="roundRect">
            <a:avLst>
              <a:gd name="adj" fmla="val 3137"/>
            </a:avLst>
          </a:prstGeom>
          <a:solidFill>
            <a:srgbClr val="E6E8FB"/>
          </a:solidFill>
          <a:ln w="12700">
            <a:solidFill>
              <a:srgbClr val="E6E8F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26680" y="164592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链上：需要多方认可、不可篡改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726680" y="2103120"/>
            <a:ext cx="3749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项目与成员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 SHA-256 与贡献比例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每位成员的确认结果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状态、证书与交易 txId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498080" y="4069080"/>
            <a:ext cx="41605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26680" y="416052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链下：可替换的应用数据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726680" y="4572000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原始成果文件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界面偏好、演示身份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498080" y="5532120"/>
            <a:ext cx="42062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键：</a:t>
            </a: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PROJECT_ · MILESTONE_ · CERT_ + 复合键索引
</a:t>
            </a:r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部署：</a:t>
            </a: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Docker + WSL2，demo:reset 一键重建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 · 技术与架构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核心机制一：双算 SHA-256 + 本地核验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6 / 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1600200"/>
            <a:ext cx="4937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600200"/>
            <a:ext cx="960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828800" y="1600200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选中文件后本地计算 H₁ 并展示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103120" y="2368296"/>
            <a:ext cx="0" cy="237744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2240280" y="235000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上传原始字节 + H₁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31520" y="2624328"/>
            <a:ext cx="4937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2624328"/>
            <a:ext cx="960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828800" y="2624328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对原始字节独立计算 H₂；H₁ ≠ H₂ 返回 FILE_HASH_MISMATCH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103120" y="3392424"/>
            <a:ext cx="0" cy="237744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2240280" y="3374136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H₁ = H₂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31520" y="3648456"/>
            <a:ext cx="4937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3648456"/>
            <a:ext cx="960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Fabric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828800" y="3648456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写入 H₂ 与贡献声明；原文件存链下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4754880"/>
            <a:ext cx="4937760" cy="1371600"/>
          </a:xfrm>
          <a:prstGeom prst="roundRect">
            <a:avLst>
              <a:gd name="adj" fmla="val 5333"/>
            </a:avLst>
          </a:prstGeom>
          <a:solidFill>
            <a:srgbClr val="E6E8FB"/>
          </a:solidFill>
          <a:ln w="12700">
            <a:solidFill>
              <a:srgbClr val="E6E8F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0120" y="4828032"/>
            <a:ext cx="45720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确认人本地核验
</a:t>
            </a:r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下载原文件，拖入确认页核对框，浏览器重算后与链上 H₂ 比对，文件不再上传；改一个字节即不一致。</a:t>
            </a:r>
            <a:endParaRPr lang="en-US" sz="1500" dirty="0"/>
          </a:p>
        </p:txBody>
      </p:sp>
      <p:pic>
        <p:nvPicPr>
          <p:cNvPr id="21" name="Image 0" descr="docs/defense/screenshots/crop-confi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0" y="1685925"/>
            <a:ext cx="5806440" cy="4354830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5852160" y="1685925"/>
            <a:ext cx="5806440" cy="435483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 · 技术与架构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核心机制二：独立确认 + 确定性统计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7 / 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1554480"/>
            <a:ext cx="5577840" cy="4572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64592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独立成员确认（链码强制）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05840" y="251460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2514600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PENDING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023360" y="210312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023360" y="210312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80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VERIFIED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023360" y="29718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FEE2E2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3360" y="297180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91C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REJECTED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 flipV="1">
            <a:off x="2514600" y="2331720"/>
            <a:ext cx="1463040" cy="274320"/>
          </a:xfrm>
          <a:prstGeom prst="line">
            <a:avLst/>
          </a:prstGeom>
          <a:noFill/>
          <a:ln w="19050">
            <a:solidFill>
              <a:srgbClr val="15803D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514600" y="2788920"/>
            <a:ext cx="1463040" cy="36576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2743200" y="21031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80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全员确认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0" y="32004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1C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任一拒绝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60120" y="365760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禁止自证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423160" y="365760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提交者不能确认自己的里程碑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60120" y="416052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确认人快照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423160" y="416052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创建时锁定「除提交者外的全部成员」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60120" y="466344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一人一票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2423160" y="466344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表态后不能撤回或改票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60120" y="516636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与比例无关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2423160" y="516636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0% 的成员同样要核对别人的贡献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60120" y="5687568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SUBMITTER_CANNOT_CONFIRM · MEMBER_NOT_REVIEWER · ALREADY_DECIDED · MILESTONE_CLOSED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537960" y="1554480"/>
            <a:ext cx="5120640" cy="4572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66560" y="164592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确定性的贡献统计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766560" y="2057400"/>
            <a:ext cx="466344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只统计已验证里程碑、每条等权；全程整数 div / mod + 最大余数法，余数相同按 memberId 字节序。所有背书节点结果一致，总和严格 100%。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3200400"/>
          <a:ext cx="46634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14400"/>
                <a:gridCol w="822960"/>
                <a:gridCol w="822960"/>
                <a:gridCol w="9144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7556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成员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7556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比例和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7556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÷ 3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7556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余数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7556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结果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alice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130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43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438C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44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bob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33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438C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33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charlie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70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23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438C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23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1" name="Text 28"/>
          <p:cNvSpPr/>
          <p:nvPr/>
        </p:nvSpPr>
        <p:spPr>
          <a:xfrm>
            <a:off x="6766560" y="498348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 + 33 + 23 = 99，剩 1 个百分点；余数相同，按字节序给 alice。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 · 技术与架构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创新点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8 / 13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189720" y="11887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对应实现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77240" y="1664208"/>
            <a:ext cx="548640" cy="548640"/>
          </a:xfrm>
          <a:prstGeom prst="ellipse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6642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554480" y="1508760"/>
            <a:ext cx="7452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「他人确认」才算数，并由链码强制
</a:t>
            </a:r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提交者不能自证；确认人是除提交者外全部成员的快照。绕过 Web 界面直接调用 Fabric 也跳不过这条规则。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89720" y="1600200"/>
            <a:ext cx="24688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235440" y="1600200"/>
            <a:ext cx="23774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链码 ConfirmContribution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requiredConfirmerIds 快照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77240" y="2615184"/>
            <a:ext cx="548640" cy="548640"/>
          </a:xfrm>
          <a:prstGeom prst="ellipse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615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2459736"/>
            <a:ext cx="7452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确认的是「这一份文件」
</a:t>
            </a:r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前后端双算 SHA-256；确认人下载原文件在浏览器本地核验，改一个字节即可发现。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189720" y="2551176"/>
            <a:ext cx="24688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35440" y="2551176"/>
            <a:ext cx="23774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前端 sha256.js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后端独立复算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77240" y="3566160"/>
            <a:ext cx="548640" cy="548640"/>
          </a:xfrm>
          <a:prstGeom prst="ellipse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35661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554480" y="3410712"/>
            <a:ext cx="7452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确定性的贡献统计
</a:t>
            </a:r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整数运算 + 最大余数法 + 字节序排序，节点、后端、前端结果完全一致，总和严格 100%。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189720" y="3502152"/>
            <a:ext cx="24688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235440" y="3502152"/>
            <a:ext cx="23774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链码 GetProjectContributions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整数 div / mod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77240" y="4517136"/>
            <a:ext cx="548640" cy="548640"/>
          </a:xfrm>
          <a:prstGeom prst="ellipse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451713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554480" y="4361688"/>
            <a:ext cx="7452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无需登录的公开验证
</a:t>
            </a:r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证明可直接交给老师、评委、用人单位，凭编号独立核验；伪造编号返回 NOT_FOUND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189720" y="4453128"/>
            <a:ext cx="24688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235440" y="4453128"/>
            <a:ext cx="23774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链码 VerifyCertificate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公开接口 /verify/:id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77240" y="5468112"/>
            <a:ext cx="548640" cy="548640"/>
          </a:xfrm>
          <a:prstGeom prst="ellipse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7240" y="54681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554480" y="5312664"/>
            <a:ext cx="7452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链上只存证据，不存内容
</a:t>
            </a:r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只上链哈希、比例与确认结果，原文件留在链下，兼顾可信与隐私。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9189720" y="5404104"/>
            <a:ext cx="24688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235440" y="5404104"/>
            <a:ext cx="23774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链上摘要与确认结果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原文件存后端 uploads/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 · 功能演示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界面一览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9 / 13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46304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概览：项目、已验证里程碑、最近活动</a:t>
            </a:r>
            <a:endParaRPr lang="en-US" sz="1300" dirty="0"/>
          </a:p>
        </p:txBody>
      </p:sp>
      <p:pic>
        <p:nvPicPr>
          <p:cNvPr id="7" name="Image 0" descr="docs/defense/screenshots/crop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28800"/>
            <a:ext cx="4760876" cy="18288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31520" y="1828800"/>
            <a:ext cx="4760876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263640" y="146304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项目详情：累计贡献与存证概况</a:t>
            </a:r>
            <a:endParaRPr lang="en-US" sz="1300" dirty="0"/>
          </a:p>
        </p:txBody>
      </p:sp>
      <p:pic>
        <p:nvPicPr>
          <p:cNvPr id="10" name="Image 1" descr="docs/defense/screenshots/crop-proje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828800"/>
            <a:ext cx="4889115" cy="18288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263640" y="1828800"/>
            <a:ext cx="4889115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31520" y="374904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贡献证书</a:t>
            </a:r>
            <a:endParaRPr lang="en-US" sz="1300" dirty="0"/>
          </a:p>
        </p:txBody>
      </p:sp>
      <p:pic>
        <p:nvPicPr>
          <p:cNvPr id="13" name="Image 2" descr="docs/defense/screenshots/crop-certifica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114800"/>
            <a:ext cx="2567950" cy="182880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731520" y="4114800"/>
            <a:ext cx="256795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263640" y="374904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公开验证：无需登录</a:t>
            </a:r>
            <a:endParaRPr lang="en-US" sz="1300" dirty="0"/>
          </a:p>
        </p:txBody>
      </p:sp>
      <p:pic>
        <p:nvPicPr>
          <p:cNvPr id="16" name="Image 3" descr="docs/defense/screenshots/crop-verif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4114800"/>
            <a:ext cx="2535442" cy="182880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6263640" y="4114800"/>
            <a:ext cx="2535442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2"/>
          <p:cNvSpPr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统一设计令牌与组件库 · 亮 / 暗两套主题 · 窄到 375 px 手机宽也不出横向滚动 · 错误逐块降级 · 15 组前端自检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 · 功能演示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现场演示 · 核心闭环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10 / 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22960" y="169164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691640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alice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240280" y="1600200"/>
            <a:ext cx="5760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提交里程碑：浏览器本地算出 SHA-256，后端复算后写链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237744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377440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alice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240280" y="2286000"/>
            <a:ext cx="5760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提交者本人没有确认按钮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22960" y="306324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063240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bob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240280" y="2971800"/>
            <a:ext cx="5760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下载原文件 → 本地核验一致；改过的文件不一致 → 确认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22960" y="374904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749040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charlie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240280" y="3657600"/>
            <a:ext cx="5760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确认 → 链上已验证，出现新的 txId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22960" y="443484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434840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alice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240280" y="4343400"/>
            <a:ext cx="5760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签发贡献证明 → 公开验证「证书有效」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22960" y="512064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5120640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任意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240280" y="5029200"/>
            <a:ext cx="5760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 伪造编号 → NOT_FOUND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8229600" y="1600200"/>
            <a:ext cx="3429000" cy="402336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458200" y="169164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演示环境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458200" y="2148840"/>
            <a:ext cx="306324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demo:reset 一键重建账本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个项目 · 6 个里程碑 · 2 张证书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已验证、待确认、已拒绝都有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dave 为非成员身份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故障时改放讲解视频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31520" y="58521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全程真实 Fabric 网络，不手工修改账本。完整流程与异常场景见讲解视频。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 · 总结与思考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质量保障与团队协作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11 / 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1463040"/>
            <a:ext cx="256032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481328"/>
            <a:ext cx="1280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128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960120" y="2176272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链码单元测试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2542032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证书 41 · 项目里程碑 32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 28 · 模拟桩一致性 27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520440" y="1463040"/>
            <a:ext cx="256032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49040" y="1481328"/>
            <a:ext cx="1280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3749040" y="2176272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后端单元测试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749040" y="2542032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个文件：错误映射、鉴权、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参数校验、文件存储等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309360" y="1463040"/>
            <a:ext cx="256032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37960" y="1481328"/>
            <a:ext cx="1280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6537960" y="2176272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组前端自检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537960" y="2542032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对比度、文案、契约、降级、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异常数据、浏览器流程等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9098280" y="1463040"/>
            <a:ext cx="256032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26880" y="1481328"/>
            <a:ext cx="1280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9326880" y="2176272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 CI 流水线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326880" y="2542032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Backend · Frontend · Chaincode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 通过检查才能合并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31520" y="32004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 Fabric 冒烟、前后端契约检查、Demo 一键重置全部通过；仓库无私钥、证书和 .env 入库。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31520" y="3657600"/>
            <a:ext cx="347472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60120" y="3721608"/>
            <a:ext cx="3108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全书阅（组长）
</a:t>
            </a:r>
            <a:pPr indent="0" marL="0">
              <a:buNone/>
            </a:pPr>
            <a:r>
              <a:rPr lang="en-US" sz="120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 / 集成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60120" y="4407408"/>
            <a:ext cx="306324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Express API 与 Gateway 集成、双 SHA-256 与鉴权、联调与 CI、任务拆分与 Review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434840" y="3657600"/>
            <a:ext cx="347472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63440" y="3721608"/>
            <a:ext cx="3108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杨宇
</a:t>
            </a:r>
            <a:pPr indent="0" marL="0">
              <a:buNone/>
            </a:pPr>
            <a:r>
              <a:rPr lang="en-US" sz="120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 / 产品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663440" y="4407408"/>
            <a:ext cx="306324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个页面与组件库、主题与响应式、15 组自检、原文件下载与本地核验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138160" y="3657600"/>
            <a:ext cx="347472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66760" y="3721608"/>
            <a:ext cx="3108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黄铭谦
</a:t>
            </a:r>
            <a:pPr indent="0" marL="0">
              <a:buNone/>
            </a:pPr>
            <a:r>
              <a:rPr lang="en-US" sz="120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区块链 / 智能合约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8366760" y="4407408"/>
            <a:ext cx="306324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Fabric 网络部署、核心链码与状态机、128 项合约测试、Demo 种子脚本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31520" y="562356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周开发，36 个 Issue / PR：契约先行 → Mock 并行开发 → 测试驱动 → 联调对齐；每个 PR 交叉 Review 并通过 CI 才合并，贡献可在 GitHub 逐条追溯。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 · 总结与思考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总结与思考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12 / 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1508760"/>
            <a:ext cx="5486400" cy="466344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60020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收获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0120" y="205740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区块链的价值是「多方共同认可的记录」
</a:t>
            </a:r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只把证据上链，不把它当存储。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306324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规则必须落在链码里
</a:t>
            </a:r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前端隐藏按钮、后端校验都不够，信任边界在背书节点。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60120" y="406908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确定性是联盟链合约的硬约束
</a:t>
            </a:r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整数运算与字节序，让所有节点读写集一致。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507492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工程化让三个人并行
</a:t>
            </a:r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契约先行、Mock 并行，每一步都有 Issue、PR、CI 留痕。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46520" y="1508760"/>
            <a:ext cx="5212080" cy="466344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60020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局限与后期改进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675120" y="2057400"/>
            <a:ext cx="4800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91C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演示身份无真实登录
</a:t>
            </a:r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Fabric CA 为每人签发身份，链码识别调用者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675120" y="3063240"/>
            <a:ext cx="4800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91C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交易都由后端同一用户提交
</a:t>
            </a:r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成员 / 学院 / 评审各为独立组织，多组织背书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675120" y="4069080"/>
            <a:ext cx="4800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91C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原文件只存后端本地
</a:t>
            </a:r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对象存储或 IPFS，链上保留内容寻址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675120" y="5074920"/>
            <a:ext cx="4800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91C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拒绝后无法修改重提
</a:t>
            </a:r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基于原里程碑提交新版本，保留版本链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576072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其余方向：里程碑权重上链 · 确认期限与仲裁 · 多主机联盟部署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438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谢谢！欢迎提问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822960" y="33832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0E2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— 让每一份贡献都能被独立核验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4754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7CA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组：全书阅　杨宇　黄铭谦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· 备用页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链上数据模型与链码事务函数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附录 A1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508760"/>
          <a:ext cx="667512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600200"/>
                <a:gridCol w="3931920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记录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38C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38C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主要字段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38C8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Project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PROJECT_&lt;id&gt;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projectId、name、description、ownerId、members、createdAt、status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Milestone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MILESTONE_&lt;id&gt;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milestoneId、projectId、title、fileName、fileHash、submitterId、requiredConfirmerIds、contributors、confirmations、status、txId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Certificate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CERT_&lt;id&gt;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certificateId、projectId、memberId、contributionPercentage、milestoneIds、issuedAt、txId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索引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复合键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PROJECT_MILESTONE(projectId, milestoneId)；CERT_INDEX(projectId, memberId, certificateId)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35240" y="1508760"/>
          <a:ext cx="402336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3108960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类别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38C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事务函数（14 个）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38C8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CreateProject · GetProject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GetAllProjects · ProjectExists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GetProjectHistory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里程碑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CreateMilestone · GetMilestone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GetProjectMilestones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ConfirmContribution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统计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GetProjectContributions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证书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IssueCertificate · GetCertificate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GetCertificates · VerifyCertificate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731520" y="54864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只使用 getState / putState / getStateByRange / getStateByPartialCompositeKey / getHistoryForKey，LevelDB 即可运行，不依赖 CouchDB。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· 备用页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REST 接口与错误码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附录 A2</a:t>
            </a:r>
            <a:endParaRPr lang="en-US" sz="1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63040"/>
          <a:ext cx="694944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3017520"/>
                <a:gridCol w="27889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38C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路径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38C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38C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766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/health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健康检查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766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GET / POST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/projects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我的项目列表 / 创建项目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766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/projects/:id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项目详情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766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/projects/:id/history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项目链上历史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766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GET / POST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/projects/:id/milestones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里程碑列表 / 提交里程碑（multipart）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766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/milestones/:id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里程碑详情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766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/milestones/:id/file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下载原文件（仅项目成员）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766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POST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/milestones/:id/confirmations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确认或拒绝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766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/projects/:id/contributions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累计贡献统计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766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/certificates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按项目 / 成员查询证书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766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POST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/projects/:id/certificates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签发贡献证明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766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/certificates/:id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证书详情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766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/verify/:id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公开验证（VALID / NOT_FOUND）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31520" y="6172200"/>
            <a:ext cx="694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15 个接口（GET / POST 同路径计为 2 个）；请求头 X-Member-Id 标识当前成员。</a:t>
            </a:r>
            <a:endParaRPr lang="en-US" sz="1000" dirty="0"/>
          </a:p>
        </p:txBody>
      </p:sp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09560" y="1463040"/>
          <a:ext cx="37490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1089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HTTP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38C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错误码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38C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91C1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400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VALIDATION_ERROR、CONTRIBUTION_TOTAL_INVALID、FILE_HASH_MISMATCH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91C1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403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MEMBER_NOT_IN_CLAIM、SUBMITTER_CANNOT_CONFIRM、MEMBER_NOT_REVIEWER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91C1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404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PROJECT_NOT_FOUND、MILESTONE_NOT_FOUND、CERTIFICATE_NOT_FOUND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91C1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409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ALREADY_DECIDED、MILESTONE_CLOSED、NO_VERIFIED_CONTRIBUTION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91C1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INTERNAL_ERROR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7909560" y="548640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错误码为英文供前端判断，message 为中文直接展示；业务失败一律返回 4xx。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· 备用页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开发历程：4 周、36 个 Issue / PR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附录 A3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1874520"/>
            <a:ext cx="10927080" cy="0"/>
          </a:xfrm>
          <a:prstGeom prst="line">
            <a:avLst/>
          </a:prstGeom>
          <a:noFill/>
          <a:ln w="25400">
            <a:solidFill>
              <a:srgbClr val="3438C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737360"/>
            <a:ext cx="274320" cy="274320"/>
          </a:xfrm>
          <a:prstGeom prst="ellipse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32588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周　</a:t>
            </a:r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基础搭建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2194560"/>
            <a:ext cx="256032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286000"/>
            <a:ext cx="23317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Fabric 测试网络与一键部署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核心链码与确认状态机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后端基础与 Gateway 集成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 9 个页面与 Mock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420624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#1–#4 · PR #8 #10 #12 #13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566160" y="1737360"/>
            <a:ext cx="274320" cy="274320"/>
          </a:xfrm>
          <a:prstGeom prst="ellipse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20440" y="132588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周　</a:t>
            </a:r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核心闭环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520440" y="2194560"/>
            <a:ext cx="256032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0" y="2286000"/>
            <a:ext cx="23317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里程碑上传与双算 SHA-256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贡献确认 API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真实网络脚本修复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前端接入真实接口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57600" y="420624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#5 · PR #18 #21 #22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355080" y="1737360"/>
            <a:ext cx="274320" cy="274320"/>
          </a:xfrm>
          <a:prstGeom prst="ellipse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0" y="132588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 周　</a:t>
            </a:r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展示层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309360" y="2194560"/>
            <a:ext cx="256032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46520" y="2286000"/>
            <a:ext cx="23317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项目时间线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贡献统计面板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证明签发与公开验证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46520" y="420624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#6 · PR #23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9144000" y="1737360"/>
            <a:ext cx="274320" cy="274320"/>
          </a:xfrm>
          <a:prstGeom prst="ellipse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098280" y="132588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4 周　</a:t>
            </a:r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完善与交付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9098280" y="2194560"/>
            <a:ext cx="2560320" cy="2514600"/>
          </a:xfrm>
          <a:prstGeom prst="roundRect">
            <a:avLst>
              <a:gd name="adj" fmla="val 2909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35440" y="2286000"/>
            <a:ext cx="23317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独立成员确认（修复自证漏洞）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原文件下载与成员鉴权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 一键重置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交付材料与答辩准备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235440" y="420624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#24–#27 #7 · PR #28–#33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31520" y="4937760"/>
            <a:ext cx="10927080" cy="1188720"/>
          </a:xfrm>
          <a:prstGeom prst="roundRect">
            <a:avLst>
              <a:gd name="adj" fmla="val 6154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60120" y="498348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1C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关键修复：</a:t>
            </a:r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最初规则是「全部 contributor 确认即 VERIFIED」，一个人可以提交只写自己 100% 的里程碑并自己确认。第 4 周改为除提交者外的全部成员独立确认，规则写入链码，并补充链码、后端、网络冒烟测试（Issue #24 / PR #28）。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· 备用页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测试、验收与部署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附录 A4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63040"/>
          <a:ext cx="69494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480560"/>
                <a:gridCol w="109728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层次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38C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38C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38C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链码单元测试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Jest，4 个套件：证书 41、项目与里程碑 32、贡献确认 28、模拟桩一致性 27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128 / 128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后端单元测试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node:test，7 个文件：错误映射、成员鉴权、参数校验、文件存储、路由与返回结构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 / 34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前端自检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npm run check：对比度、文案、间距、路由、数据、组件、SSR、契约、降级、异常数据、浏览器流程等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 组通过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真实链路冒烟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smoke:projects · smoke:milestones · smoke:week3（真实 Fabric）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通过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前后端契约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check:contract 对真实后端逐字段校验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通过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909560" y="1463040"/>
            <a:ext cx="3749040" cy="46634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138160" y="15544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部署与运行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138160" y="2011680"/>
            <a:ext cx="338328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WSL2 + Docker，Fabric 2.5.16 版本固定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Org1、Org2 两个组织，1 个排序节点，通道 chainproof，LevelDB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npm run demo:reset：重建账本 → 部署链码 → 启动后端 → 写入演示数据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 .env.local 设 VITE_REAL_APIS=* 接入真实后端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仓库不含私钥、证书、.env 与上传文件；打包前自动检查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ChainProof 答辩</dc:title>
  <dc:subject>PptxGenJS Presentation</dc:subject>
  <dc:creator>PptxGenJS</dc:creator>
  <cp:lastModifiedBy>PptxGenJS</cp:lastModifiedBy>
  <cp:revision>1</cp:revision>
  <dcterms:created xsi:type="dcterms:W3CDTF">2026-10-24T12:37:55Z</dcterms:created>
  <dcterms:modified xsi:type="dcterms:W3CDTF">2026-10-24T12:37:55Z</dcterms:modified>
</cp:coreProperties>
</file>